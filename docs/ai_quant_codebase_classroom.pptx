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400">
                <a:solidFill>
                  <a:srgbClr val="0B2545"/>
                </a:solidFill>
              </a:rPr>
              <a:t>AI Quant Investment Engine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Big Data Technology Class Deck | Generated 2026-02-26 20:01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>
                <a:solidFill>
                  <a:srgbClr val="0B2545"/>
                </a:solidFill>
              </a:rP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100"/>
            </a:pPr>
            <a:r>
              <a:t>Understand end-to-end analytics architecture in a real product</a:t>
            </a:r>
          </a:p>
          <a:p>
            <a:pPr>
              <a:defRPr sz="2100"/>
            </a:pPr>
            <a:r>
              <a:t>Trace Airflow DAG from ingestion to distribution</a:t>
            </a:r>
          </a:p>
          <a:p>
            <a:pPr>
              <a:defRPr sz="2100"/>
            </a:pPr>
            <a:r>
              <a:t>Master design and performance choices in pyspark_etl.py</a:t>
            </a:r>
          </a:p>
          <a:p>
            <a:pPr>
              <a:defRPr sz="2100"/>
            </a:pPr>
            <a:r>
              <a:t>Interpret silver-layer financial indicators with examples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>
                <a:solidFill>
                  <a:srgbClr val="0B2545"/>
                </a:solidFill>
              </a:rPr>
              <a:t>Product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100"/>
            </a:pPr>
            <a:r>
              <a:t>Orchestration: Airflow DAG ai_quant_daily_pipeline</a:t>
            </a:r>
          </a:p>
          <a:p>
            <a:pPr>
              <a:defRPr sz="2100"/>
            </a:pPr>
            <a:r>
              <a:t>Storage: Postgres schemas bronze, silver, gold, audit</a:t>
            </a:r>
          </a:p>
          <a:p>
            <a:pPr>
              <a:defRPr sz="2100"/>
            </a:pPr>
            <a:r>
              <a:t>Processing: PySpark ETL + sklearn model pipeline</a:t>
            </a:r>
          </a:p>
          <a:p>
            <a:pPr>
              <a:defRPr sz="2100"/>
            </a:pPr>
            <a:r>
              <a:t>Surfaces: Streamlit, FastAPI, Email report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>
                <a:solidFill>
                  <a:srgbClr val="0B2545"/>
                </a:solidFill>
              </a:rPr>
              <a:t>DAG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100"/>
            </a:pPr>
            <a:r>
              <a:t>Parallel start: crypto + nifty50</a:t>
            </a:r>
          </a:p>
          <a:p>
            <a:pPr>
              <a:defRPr sz="2100"/>
            </a:pPr>
            <a:r>
              <a:t>Sequential heavy branches: midcap -&gt; smallcap -&gt; mutual_funds</a:t>
            </a:r>
          </a:p>
          <a:p>
            <a:pPr>
              <a:defRPr sz="2100"/>
            </a:pPr>
            <a:r>
              <a:t>Per-branch chain: ingest -&gt; etl -&gt; train -&gt; signals -&gt; audit -&gt; quality -&gt; reconcile</a:t>
            </a:r>
          </a:p>
          <a:p>
            <a:pPr>
              <a:defRPr sz="2100"/>
            </a:pPr>
            <a:r>
              <a:t>Global finish: daily audit report -&gt; opportunity email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>
                <a:solidFill>
                  <a:srgbClr val="0B2545"/>
                </a:solidFill>
              </a:rPr>
              <a:t>Medallion Data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100"/>
            </a:pPr>
            <a:r>
              <a:t>Bronze: source-aligned raw OHLCV/NAV</a:t>
            </a:r>
          </a:p>
          <a:p>
            <a:pPr>
              <a:defRPr sz="2100"/>
            </a:pPr>
            <a:r>
              <a:t>Silver: deterministic technical indicators</a:t>
            </a:r>
          </a:p>
          <a:p>
            <a:pPr>
              <a:defRPr sz="2100"/>
            </a:pPr>
            <a:r>
              <a:t>Gold: business-ready signal/confidence tables</a:t>
            </a:r>
          </a:p>
          <a:p>
            <a:pPr>
              <a:defRPr sz="2100"/>
            </a:pPr>
            <a:r>
              <a:t>Audit: reconciliation + quality + process observability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>
                <a:solidFill>
                  <a:srgbClr val="0B2545"/>
                </a:solidFill>
              </a:rPr>
              <a:t>pyspark_etl.py Responsibilities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100"/>
            </a:pPr>
            <a:r>
              <a:t>Create Spark session tuned for Docker constraints</a:t>
            </a:r>
          </a:p>
          <a:p>
            <a:pPr>
              <a:defRPr sz="2100"/>
            </a:pPr>
            <a:r>
              <a:t>Read source via JDBC with adaptive partitioning</a:t>
            </a:r>
          </a:p>
          <a:p>
            <a:pPr>
              <a:defRPr sz="2100"/>
            </a:pPr>
            <a:r>
              <a:t>Compute technical indicators in distributed windows</a:t>
            </a:r>
          </a:p>
          <a:p>
            <a:pPr>
              <a:defRPr sz="2100"/>
            </a:pPr>
            <a:r>
              <a:t>Persist feature tables efficiently to PostgreSQL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>
                <a:solidFill>
                  <a:srgbClr val="0B2545"/>
                </a:solidFill>
              </a:rPr>
              <a:t>Spark Tuning in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100"/>
            </a:pPr>
            <a:r>
              <a:t>spark.driver.memory=2g, spark.executor.memory=3g</a:t>
            </a:r>
          </a:p>
          <a:p>
            <a:pPr>
              <a:defRPr sz="2100"/>
            </a:pPr>
            <a:r>
              <a:t>spark.sql.shuffle.partitions=20, adaptive execution enabled</a:t>
            </a:r>
          </a:p>
          <a:p>
            <a:pPr>
              <a:defRPr sz="2100"/>
            </a:pPr>
            <a:r>
              <a:t>postgres JDBC jar configured for direct read/write</a:t>
            </a:r>
          </a:p>
          <a:p>
            <a:pPr>
              <a:defRPr sz="2100"/>
            </a:pPr>
            <a:r>
              <a:t>memory.fraction/storageFraction tuned for heavy transforms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>
                <a:solidFill>
                  <a:srgbClr val="0B2545"/>
                </a:solidFill>
              </a:rPr>
              <a:t>JDBC Partition Logic (from run_spark_etl)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E293B"/>
                </a:solidFill>
                <a:latin typeface="Consolas"/>
              </a:defRPr>
            </a:pPr>
            <a:r>
              <a:t># read metadata</a:t>
            </a:r>
          </a:p>
          <a:p>
            <a:pPr>
              <a:defRPr sz="1600">
                <a:solidFill>
                  <a:srgbClr val="1E293B"/>
                </a:solidFill>
                <a:latin typeface="Consolas"/>
              </a:defRPr>
            </a:pPr>
            <a:r>
              <a:t>SELECT MIN(id), MAX(id), COUNT(*) FROM source_table</a:t>
            </a:r>
          </a:p>
          <a:p>
            <a:pPr>
              <a:defRPr sz="1600">
                <a:solidFill>
                  <a:srgbClr val="1E293B"/>
                </a:solidFill>
                <a:latin typeface="Consolas"/>
              </a:defRPr>
            </a:pPr>
          </a:p>
          <a:p>
            <a:pPr>
              <a:defRPr sz="1600">
                <a:solidFill>
                  <a:srgbClr val="1E293B"/>
                </a:solidFill>
                <a:latin typeface="Consolas"/>
              </a:defRPr>
            </a:pPr>
            <a:r>
              <a:t>optimal_partitions = min(max(1, int(sqrt(row_count/100000))), 8)</a:t>
            </a:r>
          </a:p>
          <a:p>
            <a:pPr>
              <a:defRPr sz="1600">
                <a:solidFill>
                  <a:srgbClr val="1E293B"/>
                </a:solidFill>
                <a:latin typeface="Consolas"/>
              </a:defRPr>
            </a:pPr>
          </a:p>
          <a:p>
            <a:pPr>
              <a:defRPr sz="1600">
                <a:solidFill>
                  <a:srgbClr val="1E293B"/>
                </a:solidFill>
                <a:latin typeface="Consolas"/>
              </a:defRPr>
            </a:pPr>
            <a:r>
              <a:t>if min_id and max_id:</a:t>
            </a:r>
          </a:p>
          <a:p>
            <a:pPr>
              <a:defRPr sz="1600">
                <a:solidFill>
                  <a:srgbClr val="1E293B"/>
                </a:solidFill>
                <a:latin typeface="Consolas"/>
              </a:defRPr>
            </a:pPr>
            <a:r>
              <a:t>    spark.read.jdbc(..., column='id', lowerBound=min_id,</a:t>
            </a:r>
          </a:p>
          <a:p>
            <a:pPr>
              <a:defRPr sz="1600">
                <a:solidFill>
                  <a:srgbClr val="1E293B"/>
                </a:solidFill>
                <a:latin typeface="Consolas"/>
              </a:defRPr>
            </a:pPr>
            <a:r>
              <a:t>                    upperBound=max_id, numPartitions=optimal_partitions)</a:t>
            </a:r>
          </a:p>
          <a:p>
            <a:pPr>
              <a:defRPr sz="1600">
                <a:solidFill>
                  <a:srgbClr val="1E293B"/>
                </a:solidFill>
                <a:latin typeface="Consolas"/>
              </a:defRPr>
            </a:pPr>
            <a:r>
              <a:t>else:</a:t>
            </a:r>
          </a:p>
          <a:p>
            <a:pPr>
              <a:defRPr sz="1600">
                <a:solidFill>
                  <a:srgbClr val="1E293B"/>
                </a:solidFill>
                <a:latin typeface="Consolas"/>
              </a:defRPr>
            </a:pPr>
            <a:r>
              <a:t>    spark.read.jdbc(... single partition fallback ...)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</a:defRPr>
            </a:pPr>
            <a:r>
              <a:t>Why: prevents JDBC bottlenecks while avoiding excessive partition overhead.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>
                <a:solidFill>
                  <a:srgbClr val="0B2545"/>
                </a:solidFill>
              </a:rPr>
              <a:t>Indicator Computation Core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E293B"/>
                </a:solidFill>
                <a:latin typeface="Consolas"/>
              </a:defRPr>
            </a:pPr>
            <a:r>
              <a:t>sma_50  = mean(close) over w_50</a:t>
            </a:r>
          </a:p>
          <a:p>
            <a:pPr>
              <a:defRPr sz="1600">
                <a:solidFill>
                  <a:srgbClr val="1E293B"/>
                </a:solidFill>
                <a:latin typeface="Consolas"/>
              </a:defRPr>
            </a:pPr>
            <a:r>
              <a:t>sma_200 = mean(close) over w_200</a:t>
            </a:r>
          </a:p>
          <a:p>
            <a:pPr>
              <a:defRPr sz="1600">
                <a:solidFill>
                  <a:srgbClr val="1E293B"/>
                </a:solidFill>
                <a:latin typeface="Consolas"/>
              </a:defRPr>
            </a:pPr>
            <a:r>
              <a:t>moving_avg_7d = mean(close) over w_7</a:t>
            </a:r>
          </a:p>
          <a:p>
            <a:pPr>
              <a:defRPr sz="1600">
                <a:solidFill>
                  <a:srgbClr val="1E293B"/>
                </a:solidFill>
                <a:latin typeface="Consolas"/>
              </a:defRPr>
            </a:pPr>
            <a:r>
              <a:t>volatility_7d = stddev(close) over w_7</a:t>
            </a:r>
          </a:p>
          <a:p>
            <a:pPr>
              <a:defRPr sz="1600">
                <a:solidFill>
                  <a:srgbClr val="1E293B"/>
                </a:solidFill>
                <a:latin typeface="Consolas"/>
              </a:defRPr>
            </a:pPr>
            <a:r>
              <a:t>ema_20 = mean(close) over w_20   # current approximation</a:t>
            </a:r>
          </a:p>
          <a:p>
            <a:pPr>
              <a:defRPr sz="1600">
                <a:solidFill>
                  <a:srgbClr val="1E293B"/>
                </a:solidFill>
                <a:latin typeface="Consolas"/>
              </a:defRPr>
            </a:pPr>
            <a:r>
              <a:t>macd = mean(close) over w_12 - mean(close) over w_26</a:t>
            </a:r>
          </a:p>
          <a:p>
            <a:pPr>
              <a:defRPr sz="1600">
                <a:solidFill>
                  <a:srgbClr val="1E293B"/>
                </a:solidFill>
                <a:latin typeface="Consolas"/>
              </a:defRPr>
            </a:pPr>
            <a:r>
              <a:t>bb_upper = sma_20 + 2*std_20</a:t>
            </a:r>
          </a:p>
          <a:p>
            <a:pPr>
              <a:defRPr sz="1600">
                <a:solidFill>
                  <a:srgbClr val="1E293B"/>
                </a:solidFill>
                <a:latin typeface="Consolas"/>
              </a:defRPr>
            </a:pPr>
            <a:r>
              <a:t>bb_lower = sma_20 - 2*std_20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</a:defRPr>
            </a:pPr>
            <a:r>
              <a:t>All windows are partitioned by symbol and ordered by event_time.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>
                <a:solidFill>
                  <a:srgbClr val="0B2545"/>
                </a:solidFill>
              </a:rPr>
              <a:t>RSI, ATR, Stochastic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100"/>
            </a:pPr>
            <a:r>
              <a:t>RSI(14): momentum oscillator from avg gains/losses</a:t>
            </a:r>
          </a:p>
          <a:p>
            <a:pPr>
              <a:defRPr sz="2100"/>
            </a:pPr>
            <a:r>
              <a:t>ATR(14): average true range from high/low + gap terms</a:t>
            </a:r>
          </a:p>
          <a:p>
            <a:pPr>
              <a:defRPr sz="2100"/>
            </a:pPr>
            <a:r>
              <a:t>Stochastic %K/%D: close position within recent 14-day range</a:t>
            </a:r>
          </a:p>
          <a:p>
            <a:pPr>
              <a:defRPr sz="2100"/>
            </a:pPr>
            <a:r>
              <a:t>Together: momentum + risk + range position context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>
                <a:solidFill>
                  <a:srgbClr val="0B2545"/>
                </a:solidFill>
              </a:rPr>
              <a:t>Performance Decisions (Critical)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100"/>
            </a:pPr>
            <a:r>
              <a:t>Repartition by symbol before window functions</a:t>
            </a:r>
          </a:p>
          <a:p>
            <a:pPr>
              <a:defRPr sz="2100"/>
            </a:pPr>
            <a:r>
              <a:t>Single-pass chained withColumn transforms</a:t>
            </a:r>
          </a:p>
          <a:p>
            <a:pPr>
              <a:defRPr sz="2100"/>
            </a:pPr>
            <a:r>
              <a:t>Cache/unpersist around compute_indicators</a:t>
            </a:r>
          </a:p>
          <a:p>
            <a:pPr>
              <a:defRPr sz="2100"/>
            </a:pPr>
            <a:r>
              <a:t>coalesce(2) before JDBC write to reduce tiny writes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>
                <a:solidFill>
                  <a:srgbClr val="0B2545"/>
                </a:solidFill>
              </a:rPr>
              <a:t>Quality and Caveats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100"/>
            </a:pPr>
            <a:r>
              <a:t>Drop rows where sma_50 is null (warmup maturity)</a:t>
            </a:r>
          </a:p>
          <a:p>
            <a:pPr>
              <a:defRPr sz="2100"/>
            </a:pPr>
            <a:r>
              <a:t>ema_20 and MACD are SMA-based approximations in current code</a:t>
            </a:r>
          </a:p>
          <a:p>
            <a:pPr>
              <a:defRPr sz="2100"/>
            </a:pPr>
            <a:r>
              <a:t>Need explicit guard for stochastic zero denominator edge case</a:t>
            </a:r>
          </a:p>
          <a:p>
            <a:pPr>
              <a:defRPr sz="2100"/>
            </a:pPr>
            <a:r>
              <a:t>Add feature benchmark tests for production confidence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>
                <a:solidFill>
                  <a:srgbClr val="0B2545"/>
                </a:solidFill>
              </a:rPr>
              <a:t>Student Lab 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100"/>
            </a:pPr>
            <a:r>
              <a:t>Implement true EMA_20 and compare model behavior</a:t>
            </a:r>
          </a:p>
          <a:p>
            <a:pPr>
              <a:defRPr sz="2100"/>
            </a:pPr>
            <a:r>
              <a:t>Harden stochastic denominator edge handling</a:t>
            </a:r>
          </a:p>
          <a:p>
            <a:pPr>
              <a:defRPr sz="2100"/>
            </a:pPr>
            <a:r>
              <a:t>Add unit tests with hand-calculated vectors</a:t>
            </a:r>
          </a:p>
          <a:p>
            <a:pPr>
              <a:defRPr sz="2100"/>
            </a:pPr>
            <a:r>
              <a:t>Benchmark different partition policies on large symbol sets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>
                <a:solidFill>
                  <a:srgbClr val="0B2545"/>
                </a:solidFill>
              </a:rPr>
              <a:t>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100"/>
            </a:pPr>
            <a:r>
              <a:t>Silver layer is the mathematical backbone of the product</a:t>
            </a:r>
          </a:p>
          <a:p>
            <a:pPr>
              <a:defRPr sz="2100"/>
            </a:pPr>
            <a:r>
              <a:t>Correctness + scalability decisions in ETL determine downstream quality</a:t>
            </a:r>
          </a:p>
          <a:p>
            <a:pPr>
              <a:defRPr sz="2100"/>
            </a:pPr>
            <a:r>
              <a:t>Big data engineering is about both formulas and execution strategy</a:t>
            </a:r>
          </a:p>
          <a:p>
            <a:pPr>
              <a:defRPr sz="2100"/>
            </a:pPr>
            <a:r>
              <a:t>Great analytics products combine model output with operational trust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